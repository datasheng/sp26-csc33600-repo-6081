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9144000"/>
  <p:notesSz cx="6858000" cy="9144000"/>
  <p:embeddedFontLst>
    <p:embeddedFont>
      <p:font typeface="Economica"/>
      <p:regular r:id="rId21"/>
      <p:bold r:id="rId22"/>
      <p:italic r:id="rId23"/>
      <p:boldItalic r:id="rId24"/>
    </p:embeddedFont>
    <p:embeddedFont>
      <p:font typeface="Roboto"/>
      <p:regular r:id="rId25"/>
      <p:bold r:id="rId26"/>
      <p:italic r:id="rId27"/>
      <p:boldItalic r:id="rId28"/>
    </p:embeddedFont>
    <p:embeddedFont>
      <p:font typeface="Open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FF4EF5E-88B4-4E49-9F5C-0FC453564A35}">
  <a:tblStyle styleId="{BFF4EF5E-88B4-4E49-9F5C-0FC453564A3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Economica-bold.fntdata"/><Relationship Id="rId21" Type="http://schemas.openxmlformats.org/officeDocument/2006/relationships/font" Target="fonts/Economica-regular.fntdata"/><Relationship Id="rId24" Type="http://schemas.openxmlformats.org/officeDocument/2006/relationships/font" Target="fonts/Economica-boldItalic.fntdata"/><Relationship Id="rId23" Type="http://schemas.openxmlformats.org/officeDocument/2006/relationships/font" Target="fonts/Economica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bold.fntdata"/><Relationship Id="rId25" Type="http://schemas.openxmlformats.org/officeDocument/2006/relationships/font" Target="fonts/Roboto-regular.fntdata"/><Relationship Id="rId28" Type="http://schemas.openxmlformats.org/officeDocument/2006/relationships/font" Target="fonts/Roboto-boldItalic.fntdata"/><Relationship Id="rId27" Type="http://schemas.openxmlformats.org/officeDocument/2006/relationships/font" Target="fonts/Robo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OpenSans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OpenSans-italic.fntdata"/><Relationship Id="rId30" Type="http://schemas.openxmlformats.org/officeDocument/2006/relationships/font" Target="fonts/OpenSans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font" Target="fonts/OpenSans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0156c1a6e_2_6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0156c1a6e_2_6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005259287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00525928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005259287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00525928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d005259287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d00525928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005259287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d00525928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005259287_0_6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d005259287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005259287_0_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005259287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609489d31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9609489d3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0156c1a6e_2_9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0156c1a6e_2_9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0156c1a6e_2_9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0156c1a6e_2_9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d29a47451349c0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d29a47451349c0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7" name="Google Shape;17;p3"/>
          <p:cNvSpPr/>
          <p:nvPr/>
        </p:nvSpPr>
        <p:spPr>
          <a:xfrm flipH="1" rot="10800000">
            <a:off x="466425" y="4744471"/>
            <a:ext cx="1081625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</a:t>
            </a:r>
            <a:r>
              <a:rPr lang="en-US"/>
              <a:t>tudent Course Registration System</a:t>
            </a:r>
            <a:endParaRPr/>
          </a:p>
        </p:txBody>
      </p:sp>
      <p:sp>
        <p:nvSpPr>
          <p:cNvPr id="69" name="Google Shape;69;p14"/>
          <p:cNvSpPr txBox="1"/>
          <p:nvPr>
            <p:ph idx="1" type="body"/>
          </p:nvPr>
        </p:nvSpPr>
        <p:spPr>
          <a:xfrm>
            <a:off x="1135650" y="2638325"/>
            <a:ext cx="6642000" cy="356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1200"/>
              </a:spcAft>
              <a:buNone/>
            </a:pPr>
            <a:r>
              <a:rPr lang="en-US"/>
              <a:t>Team </a:t>
            </a:r>
            <a:r>
              <a:rPr lang="en-US"/>
              <a:t>member</a:t>
            </a:r>
            <a:r>
              <a:rPr lang="en-US"/>
              <a:t>: Kyle Gosine, Weijun Huang, Mohamed Kamagate, Xinfan Li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 1 – Course Search &amp; Enrollment</a:t>
            </a:r>
            <a:endParaRPr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480300" y="1417650"/>
            <a:ext cx="8183400" cy="46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 sz="1700"/>
              <a:t>Actor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Student</a:t>
            </a:r>
            <a:endParaRPr sz="1700"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 sz="1700"/>
              <a:t>Goal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Register for a course section</a:t>
            </a:r>
            <a:endParaRPr sz="1700"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 sz="1700"/>
              <a:t>User Journey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Student logs into the system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Student searches courses by department or keyword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System displays available sections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Student selects a section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System checks seat availability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Student enrolls successfully</a:t>
            </a:r>
            <a:endParaRPr sz="1700"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 sz="1700"/>
              <a:t>System Actions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retrieve course data from database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update enrollment table</a:t>
            </a:r>
            <a:endParaRPr sz="1700"/>
          </a:p>
          <a:p>
            <a:pPr indent="-339090" lvl="0" marL="342900" rtl="0" algn="l">
              <a:spcBef>
                <a:spcPts val="352"/>
              </a:spcBef>
              <a:spcAft>
                <a:spcPts val="1200"/>
              </a:spcAft>
              <a:buClr>
                <a:schemeClr val="dk1"/>
              </a:buClr>
              <a:buSzPts val="1700"/>
              <a:buChar char="●"/>
            </a:pPr>
            <a:r>
              <a:rPr lang="en-US" sz="1700"/>
              <a:t>decrease available seats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 2 – Waitlist System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None/>
            </a:pPr>
            <a:r>
              <a:rPr b="1" lang="en-US" sz="1660"/>
              <a:t>Actor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Student</a:t>
            </a:r>
            <a:endParaRPr sz="1660"/>
          </a:p>
          <a:p>
            <a:pPr indent="0" lvl="0" marL="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240"/>
              <a:buNone/>
            </a:pPr>
            <a:r>
              <a:rPr b="1" lang="en-US" sz="1660"/>
              <a:t>Goal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Join waitlist when class is full</a:t>
            </a:r>
            <a:endParaRPr sz="1660"/>
          </a:p>
          <a:p>
            <a:pPr indent="0" lvl="0" marL="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240"/>
              <a:buNone/>
            </a:pPr>
            <a:r>
              <a:rPr b="1" lang="en-US" sz="1660"/>
              <a:t>User Journey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Student tries to enroll in a full class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System notifies the class is full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System offers waitlist option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Student joins waitlist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System records waitlist position</a:t>
            </a:r>
            <a:endParaRPr sz="1660"/>
          </a:p>
          <a:p>
            <a:pPr indent="0" lvl="0" marL="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240"/>
              <a:buNone/>
            </a:pPr>
            <a:r>
              <a:rPr b="1" lang="en-US" sz="1660"/>
              <a:t>System Actions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update waitlist table</a:t>
            </a:r>
            <a:endParaRPr sz="1660"/>
          </a:p>
          <a:p>
            <a:pPr indent="-368300" lvl="0" marL="342900" rtl="0" algn="l">
              <a:lnSpc>
                <a:spcPct val="95000"/>
              </a:lnSpc>
              <a:spcBef>
                <a:spcPts val="448"/>
              </a:spcBef>
              <a:spcAft>
                <a:spcPts val="1200"/>
              </a:spcAft>
              <a:buClr>
                <a:schemeClr val="dk1"/>
              </a:buClr>
              <a:buSzPts val="2640"/>
              <a:buChar char="●"/>
            </a:pPr>
            <a:r>
              <a:rPr lang="en-US" sz="1660"/>
              <a:t>notify students when seats open</a:t>
            </a:r>
            <a:endParaRPr sz="166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 3 – Instructor Schedule Management</a:t>
            </a:r>
            <a:endParaRPr/>
          </a:p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80"/>
              <a:buNone/>
            </a:pPr>
            <a:r>
              <a:rPr b="1" lang="en-US" sz="1795"/>
              <a:t>Actor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Instructor</a:t>
            </a:r>
            <a:endParaRPr sz="1795"/>
          </a:p>
          <a:p>
            <a:pPr indent="0" lvl="0" marL="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480"/>
              <a:buNone/>
            </a:pPr>
            <a:r>
              <a:rPr b="1" lang="en-US" sz="1795"/>
              <a:t>Goal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Manage course schedule</a:t>
            </a:r>
            <a:endParaRPr sz="1795"/>
          </a:p>
          <a:p>
            <a:pPr indent="0" lvl="0" marL="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480"/>
              <a:buNone/>
            </a:pPr>
            <a:r>
              <a:rPr b="1" lang="en-US" sz="1795"/>
              <a:t>User Journey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Instructor logs into the system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Instructor creates a course section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Instructor sets schedule and capacity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System publishes the section for students</a:t>
            </a:r>
            <a:endParaRPr sz="1795"/>
          </a:p>
          <a:p>
            <a:pPr indent="0" lvl="0" marL="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480"/>
              <a:buNone/>
            </a:pPr>
            <a:r>
              <a:rPr b="1" lang="en-US" sz="1795"/>
              <a:t>System Actions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store section data in database</a:t>
            </a:r>
            <a:endParaRPr sz="1795"/>
          </a:p>
          <a:p>
            <a:pPr indent="-383540" lvl="0" marL="342900" rtl="0" algn="l">
              <a:lnSpc>
                <a:spcPct val="95000"/>
              </a:lnSpc>
              <a:spcBef>
                <a:spcPts val="448"/>
              </a:spcBef>
              <a:spcAft>
                <a:spcPts val="1200"/>
              </a:spcAft>
              <a:buClr>
                <a:schemeClr val="dk1"/>
              </a:buClr>
              <a:buSzPts val="2880"/>
              <a:buChar char="●"/>
            </a:pPr>
            <a:r>
              <a:rPr lang="en-US" sz="1795"/>
              <a:t>update course listing</a:t>
            </a:r>
            <a:endParaRPr sz="1795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b="1" lang="en-US" sz="4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Table 1: Students</a:t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8"/>
          <p:cNvSpPr txBox="1"/>
          <p:nvPr>
            <p:ph idx="1" type="body"/>
          </p:nvPr>
        </p:nvSpPr>
        <p:spPr>
          <a:xfrm>
            <a:off x="240775" y="842725"/>
            <a:ext cx="8229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63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4" name="Google Shape;94;p18"/>
          <p:cNvGraphicFramePr/>
          <p:nvPr/>
        </p:nvGraphicFramePr>
        <p:xfrm>
          <a:off x="796925" y="1137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{BFF4EF5E-88B4-4E49-9F5C-0FC453564A35}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735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Student ID (PK)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Name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Email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Phone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70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iana Chen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diana.chen@ccny.edu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555-987-6543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70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S002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Emily Wang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emily.wang</a:t>
                      </a: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@ccny.edu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123-456-7890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70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S003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 Lee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alice.lee@</a:t>
                      </a: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ccny</a:t>
                      </a: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575-987-6543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70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S004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Carlos Rivera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carlos.rivera</a:t>
                      </a: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@ccny.edu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987-654-3210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b="1" lang="en-US" sz="4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Table 2: Instructors</a:t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6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0" name="Google Shape;100;p19"/>
          <p:cNvGraphicFramePr/>
          <p:nvPr/>
        </p:nvGraphicFramePr>
        <p:xfrm>
          <a:off x="702200" y="1374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{BFF4EF5E-88B4-4E49-9F5C-0FC453564A35}</a:tableStyleId>
              </a:tblPr>
              <a:tblGrid>
                <a:gridCol w="1872325"/>
                <a:gridCol w="1872325"/>
                <a:gridCol w="1872325"/>
                <a:gridCol w="1872325"/>
              </a:tblGrid>
              <a:tr h="568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Instructor ID (PK)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Name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Department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Email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8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Bob Smith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Computer Science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bob.smith@ccny.edu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8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I002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John Kim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Business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john.kim@ccny.edu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8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I003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Sarah Johnson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Psychology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sarah.johnson@ccny.edu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8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I004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Betty Anderson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History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betty.anderson@ccny.edu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b="1" lang="en-US" sz="4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Table 3: Courses</a:t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06" name="Google Shape;106;p20"/>
          <p:cNvGraphicFramePr/>
          <p:nvPr/>
        </p:nvGraphicFramePr>
        <p:xfrm>
          <a:off x="573725" y="1299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{BFF4EF5E-88B4-4E49-9F5C-0FC453564A35}</a:tableStyleId>
              </a:tblPr>
              <a:tblGrid>
                <a:gridCol w="1945025"/>
                <a:gridCol w="1945025"/>
                <a:gridCol w="1945025"/>
                <a:gridCol w="1945025"/>
              </a:tblGrid>
              <a:tr h="764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Course ID (PK)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Course Name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Credits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Department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Data Structures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Computer Science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Marketing Principles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Business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Psychology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Psychology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C104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World History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History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7" name="Google Shape;107;p20"/>
          <p:cNvSpPr txBox="1"/>
          <p:nvPr/>
        </p:nvSpPr>
        <p:spPr>
          <a:xfrm>
            <a:off x="573600" y="5202225"/>
            <a:ext cx="7780200" cy="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One course could have multiple course sections, as shown with the foreign key.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457200" y="146113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36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Table 4: Course Sections</a:t>
            </a:r>
            <a:endParaRPr sz="3600"/>
          </a:p>
        </p:txBody>
      </p:sp>
      <p:graphicFrame>
        <p:nvGraphicFramePr>
          <p:cNvPr id="113" name="Google Shape;113;p21"/>
          <p:cNvGraphicFramePr/>
          <p:nvPr/>
        </p:nvGraphicFramePr>
        <p:xfrm>
          <a:off x="364113" y="1353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{BFF4EF5E-88B4-4E49-9F5C-0FC453564A35}</a:tableStyleId>
              </a:tblPr>
              <a:tblGrid>
                <a:gridCol w="851675"/>
                <a:gridCol w="851675"/>
                <a:gridCol w="993700"/>
                <a:gridCol w="973425"/>
                <a:gridCol w="675825"/>
                <a:gridCol w="959900"/>
                <a:gridCol w="750225"/>
                <a:gridCol w="1183075"/>
                <a:gridCol w="966625"/>
              </a:tblGrid>
              <a:tr h="974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Section ID (PK)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Course ID (FK)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Instructor ID (FK)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Semester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Year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Capacity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Room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Schedule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Available Seats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4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Fall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30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Hall A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Mon/Wed 10 AM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27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7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Fall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40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Hall B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Tue/Thu 2 PM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4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Spring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Room 301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Mon/Wed 2 PM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4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C104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I004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Spring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Room 205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Fri 10 AM - 1 PM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30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Table 5: Enrollments</a:t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t/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19" name="Google Shape;119;p22"/>
          <p:cNvGraphicFramePr/>
          <p:nvPr/>
        </p:nvGraphicFramePr>
        <p:xfrm>
          <a:off x="404625" y="1243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{BFF4EF5E-88B4-4E49-9F5C-0FC453564A35}</a:tableStyleId>
              </a:tblPr>
              <a:tblGrid>
                <a:gridCol w="1557375"/>
                <a:gridCol w="1557375"/>
                <a:gridCol w="1557375"/>
                <a:gridCol w="1557375"/>
                <a:gridCol w="1557375"/>
              </a:tblGrid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Enrollment ID (PK)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Student ID (FK)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Section ID (FK)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Enrollment Date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Status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Enrolled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E002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Enrolled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E003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Enrolled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E004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2025-03-06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Enrolled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E005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S001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SEC003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2025-03-07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Dropped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2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E006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S002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SEC004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2025-03-08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Enrolled</a:t>
                      </a:r>
                      <a:endParaRPr sz="12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/>
          <p:nvPr>
            <p:ph type="title"/>
          </p:nvPr>
        </p:nvSpPr>
        <p:spPr>
          <a:xfrm>
            <a:off x="416625" y="382813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Table 6: Waitlist</a:t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t/>
            </a:r>
            <a:endParaRPr b="1" sz="4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25" name="Google Shape;125;p23"/>
          <p:cNvGraphicFramePr/>
          <p:nvPr/>
        </p:nvGraphicFramePr>
        <p:xfrm>
          <a:off x="607625" y="1216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{BFF4EF5E-88B4-4E49-9F5C-0FC453564A35}</a:tableStyleId>
              </a:tblPr>
              <a:tblGrid>
                <a:gridCol w="1616875"/>
                <a:gridCol w="1616875"/>
                <a:gridCol w="1616875"/>
                <a:gridCol w="1616875"/>
                <a:gridCol w="1616875"/>
              </a:tblGrid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Waitlist ID (PK)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Student ID (FK)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Section ID (FK)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Joined Date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Position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W001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W002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2025-03-15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W003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SEC004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2025-03-06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W004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S004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W005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S003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2025-03-09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W006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91425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S001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SEC004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2025-03-11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152400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sz="115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5250" marB="95250" marR="91425" marL="152400"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model</a:t>
            </a:r>
            <a:endParaRPr/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00" y="1600200"/>
            <a:ext cx="9144000" cy="5006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>
            <p:ph type="title"/>
          </p:nvPr>
        </p:nvSpPr>
        <p:spPr>
          <a:xfrm>
            <a:off x="2554450" y="-207712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>
                <a:latin typeface="Roboto"/>
                <a:ea typeface="Roboto"/>
                <a:cs typeface="Roboto"/>
                <a:sym typeface="Roboto"/>
              </a:rPr>
              <a:t>Technology Stack</a:t>
            </a:r>
            <a:endParaRPr sz="3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5"/>
          <p:cNvSpPr txBox="1"/>
          <p:nvPr>
            <p:ph idx="1" type="body"/>
          </p:nvPr>
        </p:nvSpPr>
        <p:spPr>
          <a:xfrm>
            <a:off x="362800" y="0"/>
            <a:ext cx="8229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250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Backend</a:t>
            </a:r>
            <a:endParaRPr b="1"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Node.js + Express.js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15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Handles business logic: course search, enrollment, waitlist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Manages authentication &amp; role-based access control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b="1"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Frontend</a:t>
            </a:r>
            <a:endParaRPr b="1"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React.js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15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Dynamic, real-time UI for students and instructors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Fully responsive (mobile, tablet, desktop)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Database</a:t>
            </a:r>
            <a:endParaRPr b="1"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MySQL 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15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Relational database for Students, Instructors, Courses, Enrollments, Waitlist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Supports complex queries and real-time seat updates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 Repository</a:t>
            </a:r>
            <a:endParaRPr b="1"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GitHub (Private / Public)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15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Version control and team collaboration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Secure code management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Additional Tools</a:t>
            </a:r>
            <a:endParaRPr b="1"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56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RESTful APIs · JWT Authentication · Postman Testing · Docker </a:t>
            </a:r>
            <a:endParaRPr sz="56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30555"/>
              <a:buFont typeface="Arial"/>
              <a:buNone/>
            </a:pPr>
            <a:r>
              <a:rPr b="1" lang="en-US" sz="36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Revenue Model</a:t>
            </a:r>
            <a:endParaRPr b="1" sz="36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5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" name="Google Shape;144;p26"/>
          <p:cNvSpPr txBox="1"/>
          <p:nvPr>
            <p:ph idx="1" type="body"/>
          </p:nvPr>
        </p:nvSpPr>
        <p:spPr>
          <a:xfrm>
            <a:off x="457200" y="1165950"/>
            <a:ext cx="8229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250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1. Licensing to Institutions</a:t>
            </a:r>
            <a:endParaRPr b="1"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●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Annual software licenses for: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Universities &amp; colleges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Training centers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●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Setup fee + annual maintenance fee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2. Customization &amp; Integration</a:t>
            </a:r>
            <a:endParaRPr b="1"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●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Tailor-made development for client needs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●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Integration with existing systems (e.g., payment gateways)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3. Data Analytics Services</a:t>
            </a:r>
            <a:endParaRPr b="1"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●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Premium dashboards for: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Enrollment trends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Course demand forecasting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Times New Roman"/>
              <a:buChar char="○"/>
            </a:pPr>
            <a:r>
              <a:rPr lang="en-US" sz="7200">
                <a:solidFill>
                  <a:srgbClr val="0F1115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Student behavior insights</a:t>
            </a:r>
            <a:endParaRPr sz="7200">
              <a:solidFill>
                <a:srgbClr val="0F1115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/>
          <p:cNvSpPr txBox="1"/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Competitive Advantage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7"/>
          <p:cNvSpPr txBox="1"/>
          <p:nvPr>
            <p:ph idx="1" type="body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should someone use your platform instead of a competitor?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• Ease of Use: "No-code" quantum circuit builders for beginners.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• Scalability: Built on a robust Node.js/MySQL architecture for high user volume.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• Integrated Analytics: Proprietary student-performance tracking for institutions.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