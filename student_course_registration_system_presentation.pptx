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22E522-DA99-40A6-9D9A-A8AFD8F5D395}">
  <a:tblStyle styleId="{2122E522-DA99-40A6-9D9A-A8AFD8F5D3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5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156c1a6e_2_6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0156c1a6e_2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03c7d91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03c7d916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3c7d91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03c7d9168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3c7d916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03c7d9168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3c7d916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03c7d9168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3c7d916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03c7d9168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3c7d916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03c7d9168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03c7d916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03c7d9168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03c7d916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03c7d9168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3c7d916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03c7d9168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3c7d916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03c7d9168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03c7d916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03c7d9168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03c7d916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03c7d9168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03c7d916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03c7d9168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03c7d9168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03c7d916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57200" y="207751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22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4422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tudent Course Registration System</a:t>
            </a:r>
            <a:endParaRPr b="1" sz="4422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805200" y="3220525"/>
            <a:ext cx="7533600" cy="356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-US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members: </a:t>
            </a:r>
            <a:r>
              <a:rPr lang="en-US" sz="2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Kyle Gosine, Weijun Huang, Mohamed Kamagate, Xinfan Li, and Hector Santana.</a:t>
            </a:r>
            <a:endParaRPr sz="2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1: Course Search &amp; Enrollment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93150" y="2057400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logs into the system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906000" y="2060400"/>
            <a:ext cx="2878200" cy="114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searches courses by department or keyword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441250" y="2057400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displays available sections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09600" y="3337725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selects a section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552750" y="3426100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checks seat availability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595900" y="3426100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enrolls successfully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237450" y="1425375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Journey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21250" y="5250075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course data from database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193262" y="5253100"/>
            <a:ext cx="2669100" cy="114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enrollment table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413200" y="5253075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available seats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237450" y="4636588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Actions</a:t>
            </a: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358075" y="251620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897025" y="251620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743375" y="3846138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786525" y="388570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702138" y="5709675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22075" y="570970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2: Waitlist System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93150" y="2057400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tries to enroll in a full class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906000" y="2060400"/>
            <a:ext cx="2878200" cy="114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notifies the class is full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441250" y="2057400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offers waitlist option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895625" y="3425038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joins waitlist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4938775" y="3391188"/>
            <a:ext cx="18558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records waitlist position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3237450" y="1425375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Journey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1321200" y="5254150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waitlist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153712" y="5288000"/>
            <a:ext cx="2669100" cy="114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Notifies students when seats open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237450" y="4636588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Actions</a:t>
            </a: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358075" y="251620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897025" y="251620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129400" y="3811225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132338" y="571375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3: Instructor Schedule Management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1393288" y="2058850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logs into the system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872488" y="2061838"/>
            <a:ext cx="2878200" cy="114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creates a course section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123300" y="3443863"/>
            <a:ext cx="25149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sets schedule and capacity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142475" y="3443863"/>
            <a:ext cx="2878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publishes the section for students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237450" y="1460113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Journey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321200" y="5254150"/>
            <a:ext cx="2221200" cy="1149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waitlist table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153712" y="5288000"/>
            <a:ext cx="2669100" cy="114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Notifies students when seats open</a:t>
            </a:r>
            <a:endParaRPr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3237450" y="4636588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Actions</a:t>
            </a: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027788" y="2517638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083350" y="3767488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132338" y="5713750"/>
            <a:ext cx="431400" cy="22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Table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5" name="Google Shape;135;p18"/>
          <p:cNvGraphicFramePr/>
          <p:nvPr/>
        </p:nvGraphicFramePr>
        <p:xfrm>
          <a:off x="369200" y="228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{2122E522-DA99-40A6-9D9A-A8AFD8F5D395}</a:tableStyleId>
              </a:tblPr>
              <a:tblGrid>
                <a:gridCol w="2101400"/>
                <a:gridCol w="1765550"/>
                <a:gridCol w="2560975"/>
                <a:gridCol w="1977675"/>
              </a:tblGrid>
              <a:tr h="735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 (PK)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Diana Chen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diana.chen@ccny.edu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555-987-6543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Emily Wang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emily.wang@ccny.edu</a:t>
                      </a:r>
                      <a:endParaRPr sz="1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123-456-7890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 Lee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alice.lee@ccny.edu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575-987-6543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Carlos Rivera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carlos.rivera@ccny.edu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987-654-3210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</a:t>
            </a: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Table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2" name="Google Shape;142;p19"/>
          <p:cNvGraphicFramePr/>
          <p:nvPr/>
        </p:nvGraphicFramePr>
        <p:xfrm>
          <a:off x="571025" y="206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{2122E522-DA99-40A6-9D9A-A8AFD8F5D395}</a:tableStyleId>
              </a:tblPr>
              <a:tblGrid>
                <a:gridCol w="1527650"/>
                <a:gridCol w="1739775"/>
                <a:gridCol w="2057950"/>
                <a:gridCol w="2676550"/>
              </a:tblGrid>
              <a:tr h="56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Instructor ID (PK)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I001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Bob Smith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Science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bob.smith@ccny.edu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I002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John Kim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john.kim@ccny.edu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I003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Sarah Johnson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Psychology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sarah.johnson@ccny.edu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8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I004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Betty Anderson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History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betty.anderson@ccny.edu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Table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9" name="Google Shape;149;p20"/>
          <p:cNvGraphicFramePr/>
          <p:nvPr/>
        </p:nvGraphicFramePr>
        <p:xfrm>
          <a:off x="796250" y="214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{2122E522-DA99-40A6-9D9A-A8AFD8F5D395}</a:tableStyleId>
              </a:tblPr>
              <a:tblGrid>
                <a:gridCol w="1732900"/>
                <a:gridCol w="2634375"/>
                <a:gridCol w="1185000"/>
                <a:gridCol w="2227825"/>
              </a:tblGrid>
              <a:tr h="7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 ID (PK)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 Name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Credits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Structures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Science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Marketing Principles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Psychology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Psychology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World History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History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Sections Table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6" name="Google Shape;156;p21"/>
          <p:cNvGraphicFramePr/>
          <p:nvPr/>
        </p:nvGraphicFramePr>
        <p:xfrm>
          <a:off x="139725" y="174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{2122E522-DA99-40A6-9D9A-A8AFD8F5D395}</a:tableStyleId>
              </a:tblPr>
              <a:tblGrid>
                <a:gridCol w="1099700"/>
                <a:gridCol w="1089850"/>
                <a:gridCol w="1206375"/>
                <a:gridCol w="1097975"/>
                <a:gridCol w="1222975"/>
                <a:gridCol w="836300"/>
                <a:gridCol w="1506575"/>
                <a:gridCol w="804800"/>
              </a:tblGrid>
              <a:tr h="97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 ID (PK)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 ID (FK)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Instructor ID (FK)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Semester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Capacity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Room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Schedule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Seats</a:t>
                      </a:r>
                      <a:endParaRPr b="1"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SEC001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C101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I001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Fall 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 A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Mon/Wed 10 AM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7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SEC002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C102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I002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Fall 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 B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Tue/Thu 2 PM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SEC003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C103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I003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Spring 2025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Room 301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Mon/Wed 2 PM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SEC004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C104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I004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Spring 2025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Room 205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Fri 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AM - 1 PM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</a:t>
            </a: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Table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3" name="Google Shape;163;p22"/>
          <p:cNvGraphicFramePr/>
          <p:nvPr/>
        </p:nvGraphicFramePr>
        <p:xfrm>
          <a:off x="792863" y="191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{2122E522-DA99-40A6-9D9A-A8AFD8F5D395}</a:tableStyleId>
              </a:tblPr>
              <a:tblGrid>
                <a:gridCol w="1557375"/>
                <a:gridCol w="1557375"/>
                <a:gridCol w="1557375"/>
                <a:gridCol w="1557375"/>
                <a:gridCol w="1557375"/>
              </a:tblGrid>
              <a:tr h="1234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Enrollment ID (PK)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 (FK)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 ID (FK)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Enrollment Date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Enrolled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Enrolled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2025-03-05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Enrolled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2025-03-06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Enrolled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E005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2025-03-07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Dropped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E006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2025-03-08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Enrolled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Waitlist</a:t>
            </a: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Table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0" name="Google Shape;170;p23"/>
          <p:cNvGraphicFramePr/>
          <p:nvPr/>
        </p:nvGraphicFramePr>
        <p:xfrm>
          <a:off x="529800" y="169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{2122E522-DA99-40A6-9D9A-A8AFD8F5D395}</a:tableStyleId>
              </a:tblPr>
              <a:tblGrid>
                <a:gridCol w="1616875"/>
                <a:gridCol w="1616875"/>
                <a:gridCol w="1616875"/>
                <a:gridCol w="1616875"/>
                <a:gridCol w="1616875"/>
              </a:tblGrid>
              <a:tr h="109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Waitlist ID (PK)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 (FK)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 ID (FK)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Joined Date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 b="1"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2025-03-15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2025-03-06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W005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S003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2025-03-09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W006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S001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SEC004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2025-03-11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152400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9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1425" marL="1524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0" y="1600200"/>
            <a:ext cx="9144000" cy="500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 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175375" y="1909225"/>
            <a:ext cx="2675700" cy="2252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00" lIns="87600" spcFirstLastPara="1" rIns="87600" wrap="square" tIns="8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41">
                <a:latin typeface="Times New Roman"/>
                <a:ea typeface="Times New Roman"/>
                <a:cs typeface="Times New Roman"/>
                <a:sym typeface="Times New Roman"/>
              </a:rPr>
              <a:t>Node.js + Express.js</a:t>
            </a:r>
            <a:endParaRPr b="1"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For handling course search, enrollment, waitlisting, authentication, and role-based access control.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3234141" y="1909225"/>
            <a:ext cx="2675700" cy="2252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00" lIns="87600" spcFirstLastPara="1" rIns="87600" wrap="square" tIns="8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1">
                <a:latin typeface="Times New Roman"/>
                <a:ea typeface="Times New Roman"/>
                <a:cs typeface="Times New Roman"/>
                <a:sym typeface="Times New Roman"/>
              </a:rPr>
              <a:t>React.js</a:t>
            </a:r>
            <a:endParaRPr b="1"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Dynamic, real-time UI for students and instructors.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Fully responsive (mobile, tablet, desktop.)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6292932" y="1909234"/>
            <a:ext cx="2675700" cy="2252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00" lIns="87600" spcFirstLastPara="1" rIns="87600" wrap="square" tIns="8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1">
                <a:latin typeface="Times New Roman"/>
                <a:ea typeface="Times New Roman"/>
                <a:cs typeface="Times New Roman"/>
                <a:sym typeface="Times New Roman"/>
              </a:rPr>
              <a:t>MySQL </a:t>
            </a:r>
            <a:endParaRPr b="1"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Relational database for Students, Instructors, Courses, Enrollments, Waitlist.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Supports complex queries and real-time seat updates.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1704754" y="4465450"/>
            <a:ext cx="2675700" cy="2252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00" lIns="87600" spcFirstLastPara="1" rIns="87600" wrap="square" tIns="8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1">
                <a:latin typeface="Times New Roman"/>
                <a:ea typeface="Times New Roman"/>
                <a:cs typeface="Times New Roman"/>
                <a:sym typeface="Times New Roman"/>
              </a:rPr>
              <a:t>GitHub (Private / Public)</a:t>
            </a:r>
            <a:endParaRPr b="1"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Version control and team collaboration.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>
                <a:latin typeface="Times New Roman"/>
                <a:ea typeface="Times New Roman"/>
                <a:cs typeface="Times New Roman"/>
                <a:sym typeface="Times New Roman"/>
              </a:rPr>
              <a:t>Secure code management.</a:t>
            </a:r>
            <a:endParaRPr sz="184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4763545" y="4465459"/>
            <a:ext cx="2675700" cy="22524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00" lIns="87600" spcFirstLastPara="1" rIns="87600" wrap="square" tIns="8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1">
                <a:latin typeface="Times New Roman"/>
                <a:ea typeface="Times New Roman"/>
                <a:cs typeface="Times New Roman"/>
                <a:sym typeface="Times New Roman"/>
              </a:rPr>
              <a:t>RESTful APIs · JWT Authentication · Postman Testing · Docker</a:t>
            </a:r>
            <a:endParaRPr b="1" sz="184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78675" y="1354225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235800" y="1354225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6292925" y="1354225"/>
            <a:ext cx="2669100" cy="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Model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524375" y="1452900"/>
            <a:ext cx="8154300" cy="4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Institutional Licensing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software licenses for universities, colleges, and training centers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fee + annual maintenance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Customization &amp; System Integration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Tailored development based on client needs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existing systems (e.g., payment gateways)</a:t>
            </a:r>
            <a:b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Data Analytics Services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dashboards for enrollment trends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demand forecasting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behavior insights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228600" y="27465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b="1" sz="36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0" y="0"/>
            <a:ext cx="9144000" cy="1452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</a:t>
            </a:r>
            <a:r>
              <a:rPr b="1" lang="en-US" sz="3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</a:t>
            </a:r>
            <a:endParaRPr b="1" sz="3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20100" y="1608450"/>
            <a:ext cx="9332400" cy="4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Built to Scale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 a high-performance Node.js and MySQL architecture, our platform is engineered to support thousands of simultaneous users across universities and training programs with reliability and speed.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Data-Driven Learning Insights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proprietary analytics engine tracks student progress, performance patterns, and engagement in real time, providing institutions with actionable insights to improve learning outcomes and personalize instruction.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Institutional-Ready Platform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Purpose-built for universities, training programs, and research labs, our platform combines curriculum tools, performance dashboards, and administrative controls in one unified ecosystem.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0">
                <a:solidFill>
                  <a:srgbClr val="FFFFFF"/>
                </a:solidFill>
              </a:rPr>
              <a:t>Thank You </a:t>
            </a:r>
            <a:endParaRPr b="1" sz="67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